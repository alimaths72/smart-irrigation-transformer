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82" d="100"/>
          <a:sy n="82" d="100"/>
        </p:scale>
        <p:origin x="51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26.png"/><Relationship Id="rId4" Type="http://schemas.openxmlformats.org/officeDocument/2006/relationships/image" Target="../media/image3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E3A8A">
                  <a:alpha val="85000"/>
                </a:srgbClr>
              </a:gs>
              <a:gs pos="50000">
                <a:srgbClr val="1E40AF">
                  <a:alpha val="80000"/>
                </a:srgbClr>
              </a:gs>
              <a:gs pos="100000">
                <a:srgbClr val="14532D">
                  <a:alpha val="75000"/>
                </a:srgbClr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91535" y="528533"/>
            <a:ext cx="1142971" cy="84793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188" y="5528953"/>
            <a:ext cx="952476" cy="81024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1505" y="1828800"/>
            <a:ext cx="10639159" cy="1381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4680"/>
              </a:lnSpc>
              <a:spcBef>
                <a:spcPts val="0"/>
              </a:spcBef>
              <a:spcAft>
                <a:spcPts val="2080"/>
              </a:spcAft>
            </a:pPr>
            <a:r>
              <a:rPr sz="3468" b="1">
                <a:solidFill>
                  <a:srgbClr val="FFFFFF"/>
                </a:solidFill>
                <a:latin typeface="Roboto Slab"/>
              </a:rPr>
              <a:t> Smart Irrigation Requirement Prediction</a:t>
            </a:r>
            <a:r>
              <a:rPr sz="1104"/>
              <a:t>
</a:t>
            </a:r>
            <a:r>
              <a:rPr sz="3468" b="1">
                <a:solidFill>
                  <a:srgbClr val="FFFFFF"/>
                </a:solidFill>
                <a:latin typeface="Roboto Slab"/>
              </a:rPr>
              <a:t>Using Machine Learning </a:t>
            </a:r>
          </a:p>
        </p:txBody>
      </p:sp>
      <p:sp>
        <p:nvSpPr>
          <p:cNvPr id="7" name="Rectangle 6"/>
          <p:cNvSpPr/>
          <p:nvPr/>
        </p:nvSpPr>
        <p:spPr>
          <a:xfrm>
            <a:off x="4876678" y="3505199"/>
            <a:ext cx="2438339" cy="381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4ADE80"/>
              </a:gs>
              <a:gs pos="100000">
                <a:srgbClr val="000000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66745" y="3783022"/>
            <a:ext cx="3648691" cy="54925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FFFFFF"/>
                </a:solidFill>
                <a:latin typeface="Roboto"/>
              </a:rPr>
              <a:t>S</a:t>
            </a:r>
            <a:r>
              <a:rPr lang="en-US" sz="1200" b="0" dirty="0">
                <a:solidFill>
                  <a:srgbClr val="FFFFFF"/>
                </a:solidFill>
                <a:latin typeface="Roboto"/>
              </a:rPr>
              <a:t>tudent Name</a:t>
            </a:r>
            <a:r>
              <a:rPr lang="en-US" sz="1076" b="0" dirty="0">
                <a:solidFill>
                  <a:srgbClr val="FFFFFF"/>
                </a:solidFill>
                <a:latin typeface="Roboto"/>
              </a:rPr>
              <a:t>: Muhammad Ali (SU92-MSDSW-F25-021)</a:t>
            </a:r>
            <a:br>
              <a:rPr lang="en-US" sz="1076" b="0" dirty="0">
                <a:solidFill>
                  <a:srgbClr val="FFFFFF"/>
                </a:solidFill>
                <a:latin typeface="Roboto"/>
              </a:rPr>
            </a:br>
            <a:r>
              <a:rPr lang="en-US" sz="1076" b="0" dirty="0">
                <a:solidFill>
                  <a:srgbClr val="FFFFFF"/>
                </a:solidFill>
                <a:latin typeface="Roboto"/>
              </a:rPr>
              <a:t>                            Shakeel </a:t>
            </a:r>
            <a:r>
              <a:rPr lang="en-US" sz="1076" dirty="0">
                <a:solidFill>
                  <a:srgbClr val="FFFFFF"/>
                </a:solidFill>
                <a:latin typeface="Roboto"/>
              </a:rPr>
              <a:t>Ahmad (SU92-MSAIW-F25-008)</a:t>
            </a:r>
            <a:endParaRPr sz="1076" b="0" dirty="0">
              <a:solidFill>
                <a:srgbClr val="FFFFFF"/>
              </a:solidFill>
              <a:latin typeface="Roboto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328454" y="4760966"/>
            <a:ext cx="3525260" cy="31842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>
              <a:lnSpc>
                <a:spcPts val="1820"/>
              </a:lnSpc>
              <a:spcBef>
                <a:spcPts val="1040"/>
              </a:spcBef>
              <a:spcAft>
                <a:spcPts val="0"/>
              </a:spcAft>
            </a:pPr>
            <a:r>
              <a:rPr lang="en-US" sz="1076" dirty="0">
                <a:solidFill>
                  <a:srgbClr val="FFFFFF"/>
                </a:solidFill>
                <a:latin typeface="Roboto"/>
              </a:rPr>
              <a:t>Course Name:                                          Machine Learning</a:t>
            </a:r>
            <a:endParaRPr sz="1076" dirty="0">
              <a:solidFill>
                <a:srgbClr val="FFFFFF"/>
              </a:solidFill>
              <a:latin typeface="Roboto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934301" y="5245201"/>
            <a:ext cx="2380716" cy="34804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1040"/>
              </a:spcBef>
              <a:spcAft>
                <a:spcPts val="0"/>
              </a:spcAft>
            </a:pPr>
            <a:r>
              <a:rPr sz="2000" b="0" dirty="0">
                <a:solidFill>
                  <a:srgbClr val="FFFFFF"/>
                </a:solidFill>
                <a:latin typeface="Roboto"/>
              </a:rPr>
              <a:t>Instructor: Sir Talha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95249"/>
            <a:ext cx="3438439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F2937"/>
                </a:solidFill>
                <a:latin typeface="Roboto Slab"/>
              </a:rPr>
              <a:t>Problem Statement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219169" y="2533649"/>
            <a:ext cx="609584" cy="609600"/>
          </a:xfrm>
          <a:prstGeom prst="roundRect">
            <a:avLst>
              <a:gd name="adj" fmla="val 31246875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71565" y="2725615"/>
            <a:ext cx="304792" cy="22566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33546" y="2609850"/>
            <a:ext cx="8838979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374151"/>
                </a:solidFill>
                <a:latin typeface="Roboto"/>
              </a:rPr>
              <a:t>Inefficient irrigation leads to water wastage and reduced crop yield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19169" y="3524250"/>
            <a:ext cx="609584" cy="609600"/>
          </a:xfrm>
          <a:prstGeom prst="roundRect">
            <a:avLst>
              <a:gd name="adj" fmla="val 31246875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1565" y="3700096"/>
            <a:ext cx="304792" cy="25790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133546" y="3600450"/>
            <a:ext cx="8838979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374151"/>
                </a:solidFill>
                <a:latin typeface="Roboto"/>
              </a:rPr>
              <a:t>Traditional irrigation relies on fixed schedules or manual judgment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19169" y="4514850"/>
            <a:ext cx="609584" cy="609600"/>
          </a:xfrm>
          <a:prstGeom prst="roundRect">
            <a:avLst>
              <a:gd name="adj" fmla="val 31246875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71565" y="4702419"/>
            <a:ext cx="304792" cy="23446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133546" y="4591050"/>
            <a:ext cx="8838979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374151"/>
                </a:solidFill>
                <a:latin typeface="Roboto"/>
              </a:rPr>
              <a:t>Lack of data-driven irrigation decision support systems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867653" y="720006"/>
            <a:ext cx="1714457" cy="118888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95249"/>
            <a:ext cx="3257468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F2937"/>
                </a:solidFill>
                <a:latin typeface="Roboto Slab"/>
              </a:rPr>
              <a:t>Project Objectives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219169" y="2305049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52516" y="2457242"/>
            <a:ext cx="266693" cy="2290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81150" y="2381250"/>
            <a:ext cx="8991375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374151"/>
                </a:solidFill>
                <a:latin typeface="Roboto"/>
              </a:rPr>
              <a:t>Predict irrigation requirements using machine learning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19169" y="3143250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2516" y="3325881"/>
            <a:ext cx="266693" cy="1681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981150" y="3219449"/>
            <a:ext cx="8991375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374151"/>
                </a:solidFill>
                <a:latin typeface="Roboto"/>
              </a:rPr>
              <a:t>Compare baseline and deep learning models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19169" y="3981449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52516" y="4143789"/>
            <a:ext cx="266693" cy="20872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981150" y="4057650"/>
            <a:ext cx="8991375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374151"/>
                </a:solidFill>
                <a:latin typeface="Roboto"/>
              </a:rPr>
              <a:t>Improve performance through hyperparameter tuning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19169" y="4819650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52516" y="4973292"/>
            <a:ext cx="266693" cy="22611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981150" y="4895849"/>
            <a:ext cx="8991375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374151"/>
                </a:solidFill>
                <a:latin typeface="Roboto"/>
              </a:rPr>
              <a:t>Support sustainable water management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058148" y="5184879"/>
            <a:ext cx="1523961" cy="77449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95249"/>
            <a:ext cx="3209844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F2937"/>
                </a:solidFill>
                <a:latin typeface="Roboto Slab"/>
              </a:rPr>
              <a:t>Dataset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1514475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42931" y="1685510"/>
            <a:ext cx="266693" cy="1913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565" y="1590675"/>
            <a:ext cx="4495687" cy="7429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374151"/>
                </a:solidFill>
                <a:latin typeface="Roboto"/>
              </a:rPr>
              <a:t>Agricultural dataset with approximately </a:t>
            </a:r>
            <a:r>
              <a:rPr sz="1435" b="1">
                <a:solidFill>
                  <a:srgbClr val="2563EB"/>
                </a:solidFill>
                <a:latin typeface="Roboto"/>
              </a:rPr>
              <a:t>16,000 records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24441" y="1514475"/>
            <a:ext cx="5257668" cy="2571750"/>
          </a:xfrm>
          <a:prstGeom prst="roundRect">
            <a:avLst>
              <a:gd name="adj" fmla="val 8888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5104606" y="2734310"/>
            <a:ext cx="25717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7333" y="1902069"/>
            <a:ext cx="304792" cy="23446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086422" y="1819275"/>
            <a:ext cx="1838279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1F2937"/>
                </a:solidFill>
                <a:latin typeface="Roboto Slab"/>
              </a:rPr>
              <a:t>Input Features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333" y="2581275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95927" y="2447924"/>
            <a:ext cx="2143071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374151"/>
                </a:solidFill>
                <a:latin typeface="Roboto"/>
              </a:rPr>
              <a:t>Moisture Index (MOI)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67333" y="3076574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95927" y="2943225"/>
            <a:ext cx="1295367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374151"/>
                </a:solidFill>
                <a:latin typeface="Roboto"/>
              </a:rPr>
              <a:t>Temperature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67333" y="3571875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95927" y="3438525"/>
            <a:ext cx="914377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374151"/>
                </a:solidFill>
                <a:latin typeface="Roboto"/>
              </a:rPr>
              <a:t>Humidity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9584" y="4543425"/>
            <a:ext cx="5257668" cy="1609724"/>
          </a:xfrm>
          <a:prstGeom prst="roundRect">
            <a:avLst>
              <a:gd name="adj" fmla="val 14201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-129238" y="5282247"/>
            <a:ext cx="160972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2476" y="4935415"/>
            <a:ext cx="304792" cy="22566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371565" y="4848225"/>
            <a:ext cx="1952576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1F2937"/>
                </a:solidFill>
                <a:latin typeface="Roboto Slab"/>
              </a:rPr>
              <a:t>Target Variable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2476" y="5591175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81070" y="5476875"/>
            <a:ext cx="2714557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374151"/>
                </a:solidFill>
                <a:latin typeface="Roboto"/>
              </a:rPr>
              <a:t>Irrigation requirement level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096247" y="924014"/>
            <a:ext cx="1333466" cy="100947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95249"/>
            <a:ext cx="2409764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F2937"/>
                </a:solidFill>
                <a:latin typeface="Roboto Slab"/>
              </a:rPr>
              <a:t>Methodology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2171700"/>
            <a:ext cx="1066773" cy="1066799"/>
          </a:xfrm>
          <a:prstGeom prst="roundRect">
            <a:avLst>
              <a:gd name="adj" fmla="val 21428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14377" y="2545681"/>
            <a:ext cx="457188" cy="3188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9129" y="3390899"/>
            <a:ext cx="657208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1F2937"/>
                </a:solidFill>
                <a:latin typeface="Roboto"/>
              </a:rPr>
              <a:t>Dataset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4061" y="2812502"/>
            <a:ext cx="342891" cy="24239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790855" y="2171700"/>
            <a:ext cx="1066773" cy="1066799"/>
          </a:xfrm>
          <a:prstGeom prst="roundRect">
            <a:avLst>
              <a:gd name="adj" fmla="val 21428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95647" y="2491539"/>
            <a:ext cx="457188" cy="42712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714657" y="3390899"/>
            <a:ext cx="1228694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1F2937"/>
                </a:solidFill>
                <a:latin typeface="Roboto"/>
              </a:rPr>
              <a:t>Preprocessing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91055" y="2812502"/>
            <a:ext cx="342891" cy="24239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095947" y="2171700"/>
            <a:ext cx="1066773" cy="1066799"/>
          </a:xfrm>
          <a:prstGeom prst="roundRect">
            <a:avLst>
              <a:gd name="adj" fmla="val 21428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00739" y="2545681"/>
            <a:ext cx="457188" cy="31883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981650" y="3390899"/>
            <a:ext cx="1295367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1F2937"/>
                </a:solidFill>
                <a:latin typeface="Roboto"/>
              </a:rPr>
              <a:t>Train-Test Split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24721" y="2812502"/>
            <a:ext cx="342891" cy="242394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10410564" y="2171700"/>
            <a:ext cx="1066773" cy="1066799"/>
          </a:xfrm>
          <a:prstGeom prst="roundRect">
            <a:avLst>
              <a:gd name="adj" fmla="val 21428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715357" y="2511090"/>
            <a:ext cx="457188" cy="38801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315317" y="3390899"/>
            <a:ext cx="1266793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1F2937"/>
                </a:solidFill>
                <a:latin typeface="Roboto"/>
              </a:rPr>
              <a:t>Model Training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71745" y="4622252"/>
            <a:ext cx="342891" cy="242394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3819429" y="3981449"/>
            <a:ext cx="1066773" cy="1066799"/>
          </a:xfrm>
          <a:prstGeom prst="roundRect">
            <a:avLst>
              <a:gd name="adj" fmla="val 21428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124221" y="4340392"/>
            <a:ext cx="457188" cy="34891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914677" y="5200650"/>
            <a:ext cx="885802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1F2937"/>
                </a:solidFill>
                <a:latin typeface="Roboto"/>
              </a:rPr>
              <a:t>Evaluation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0995" y="4622252"/>
            <a:ext cx="342891" cy="242394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5886302" y="3981449"/>
            <a:ext cx="1066773" cy="1066799"/>
          </a:xfrm>
          <a:prstGeom prst="roundRect">
            <a:avLst>
              <a:gd name="adj" fmla="val 21428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191095" y="4340392"/>
            <a:ext cx="457188" cy="34891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838679" y="5200650"/>
            <a:ext cx="1152496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1F2937"/>
                </a:solidFill>
                <a:latin typeface="Roboto"/>
              </a:rPr>
              <a:t>Model Saving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05492" y="4622252"/>
            <a:ext cx="342891" cy="242394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7953176" y="3981449"/>
            <a:ext cx="1066773" cy="1066799"/>
          </a:xfrm>
          <a:prstGeom prst="roundRect">
            <a:avLst>
              <a:gd name="adj" fmla="val 21428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257968" y="4340392"/>
            <a:ext cx="457188" cy="34891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076998" y="5200650"/>
            <a:ext cx="800079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1F2937"/>
                </a:solidFill>
                <a:latin typeface="Roboto"/>
              </a:rPr>
              <a:t>Inference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0058148" y="4997502"/>
            <a:ext cx="1523961" cy="11492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95249"/>
            <a:ext cx="2343091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F2937"/>
                </a:solidFill>
                <a:latin typeface="Roboto Slab"/>
              </a:rPr>
              <a:t>Models Used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219169" y="2228850"/>
            <a:ext cx="609584" cy="6096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71565" y="2416419"/>
            <a:ext cx="304792" cy="23446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33546" y="2305049"/>
            <a:ext cx="8838979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520"/>
              </a:spcAft>
            </a:pPr>
            <a:r>
              <a:rPr sz="1196" b="0">
                <a:solidFill>
                  <a:srgbClr val="4B5563"/>
                </a:solidFill>
                <a:latin typeface="Roboto"/>
              </a:rPr>
              <a:t>Baseline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33546" y="2684036"/>
            <a:ext cx="1708032" cy="42312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54" b="1" dirty="0">
                <a:solidFill>
                  <a:srgbClr val="1F293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/>
              </a:rPr>
              <a:t>Logistic Regression</a:t>
            </a:r>
            <a:endParaRPr sz="1554" b="1" dirty="0">
              <a:solidFill>
                <a:srgbClr val="1F293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boto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219169" y="3400425"/>
            <a:ext cx="609584" cy="6096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1565" y="3587994"/>
            <a:ext cx="304792" cy="23446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133546" y="3476624"/>
            <a:ext cx="8838979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520"/>
              </a:spcAft>
            </a:pPr>
            <a:r>
              <a:rPr sz="1196" b="0">
                <a:solidFill>
                  <a:srgbClr val="4B5563"/>
                </a:solidFill>
                <a:latin typeface="Roboto"/>
              </a:rPr>
              <a:t>Advanced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33546" y="3867149"/>
            <a:ext cx="8838979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1F2937"/>
                </a:solidFill>
                <a:latin typeface="Roboto"/>
              </a:rPr>
              <a:t>Transformer-based Deep Learning Model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19169" y="4572000"/>
            <a:ext cx="609584" cy="609600"/>
          </a:xfrm>
          <a:prstGeom prst="roundRect">
            <a:avLst>
              <a:gd name="adj" fmla="val 2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71565" y="4769826"/>
            <a:ext cx="304792" cy="21394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33546" y="4648200"/>
            <a:ext cx="8838979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520"/>
              </a:spcAft>
            </a:pPr>
            <a:r>
              <a:rPr sz="1196" b="0">
                <a:solidFill>
                  <a:srgbClr val="4B5563"/>
                </a:solidFill>
                <a:latin typeface="Roboto"/>
              </a:rPr>
              <a:t>Evaluation Metric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33546" y="5029200"/>
            <a:ext cx="8838979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1F2937"/>
                </a:solidFill>
                <a:latin typeface="Roboto"/>
              </a:rPr>
              <a:t>Accuracy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000999" y="936694"/>
            <a:ext cx="1428714" cy="107936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95249"/>
            <a:ext cx="3971825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F2937"/>
                </a:solidFill>
                <a:latin typeface="Roboto Slab"/>
              </a:rPr>
              <a:t>Results &amp; Comparison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2514600"/>
            <a:ext cx="609584" cy="6096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1030" y="2715039"/>
            <a:ext cx="266693" cy="2087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47763" y="2438400"/>
            <a:ext cx="3371765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260"/>
              </a:spcAft>
            </a:pPr>
            <a:r>
              <a:rPr sz="1076" b="0">
                <a:solidFill>
                  <a:srgbClr val="4B5563"/>
                </a:solidFill>
                <a:latin typeface="Roboto"/>
              </a:rPr>
              <a:t>Logistic Regression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7763" y="2733674"/>
            <a:ext cx="3371765" cy="4572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1F2937"/>
                </a:solidFill>
                <a:latin typeface="Roboto"/>
              </a:rPr>
              <a:t>81%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584" y="3524250"/>
            <a:ext cx="609584" cy="6096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030" y="3724689"/>
            <a:ext cx="266693" cy="20872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47763" y="3457575"/>
            <a:ext cx="3371765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260"/>
              </a:spcAft>
            </a:pPr>
            <a:r>
              <a:rPr sz="1076" b="0">
                <a:solidFill>
                  <a:srgbClr val="4B5563"/>
                </a:solidFill>
                <a:latin typeface="Roboto"/>
              </a:rPr>
              <a:t>Transformer (Before Tuning)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7763" y="3752849"/>
            <a:ext cx="3371765" cy="4572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1F2937"/>
                </a:solidFill>
                <a:latin typeface="Roboto"/>
              </a:rPr>
              <a:t>84%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584" y="4552949"/>
            <a:ext cx="609584" cy="609600"/>
          </a:xfrm>
          <a:prstGeom prst="roundRect">
            <a:avLst>
              <a:gd name="adj" fmla="val 2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1030" y="4753389"/>
            <a:ext cx="266693" cy="20872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47763" y="4476750"/>
            <a:ext cx="3371765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260"/>
              </a:spcAft>
            </a:pPr>
            <a:r>
              <a:rPr sz="1076" b="0">
                <a:solidFill>
                  <a:srgbClr val="4B5563"/>
                </a:solidFill>
                <a:latin typeface="Roboto"/>
              </a:rPr>
              <a:t>Transformer (After Tuning)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7763" y="4772025"/>
            <a:ext cx="3371765" cy="4572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16A34A"/>
                </a:solidFill>
                <a:latin typeface="Roboto"/>
              </a:rPr>
              <a:t>87%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18B6214-0F16-526C-3971-62C34A0411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5681" y="1700668"/>
            <a:ext cx="6110762" cy="421089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95249"/>
            <a:ext cx="4419489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F2937"/>
                </a:solidFill>
                <a:latin typeface="Roboto Slab"/>
              </a:rPr>
              <a:t>Hyperparameter Tuning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219169" y="2038349"/>
            <a:ext cx="609584" cy="6096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71565" y="2199542"/>
            <a:ext cx="304792" cy="2872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33546" y="2114550"/>
            <a:ext cx="8838979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554" b="0">
                <a:solidFill>
                  <a:srgbClr val="374151"/>
                </a:solidFill>
                <a:latin typeface="Roboto"/>
              </a:rPr>
              <a:t>Tuned number of training epochs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19169" y="3028950"/>
            <a:ext cx="609584" cy="6096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1565" y="3209192"/>
            <a:ext cx="304792" cy="24911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133546" y="3105149"/>
            <a:ext cx="8838979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554" b="0">
                <a:solidFill>
                  <a:srgbClr val="374151"/>
                </a:solidFill>
                <a:latin typeface="Roboto"/>
              </a:rPr>
              <a:t>Adjusted hidden dimensions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19169" y="4019549"/>
            <a:ext cx="609584" cy="6096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71565" y="4217376"/>
            <a:ext cx="304792" cy="21394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133546" y="4095749"/>
            <a:ext cx="8838979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554" b="0">
                <a:solidFill>
                  <a:srgbClr val="374151"/>
                </a:solidFill>
                <a:latin typeface="Roboto"/>
              </a:rPr>
              <a:t>Optimized learning rate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19169" y="5010149"/>
            <a:ext cx="609584" cy="609600"/>
          </a:xfrm>
          <a:prstGeom prst="roundRect">
            <a:avLst>
              <a:gd name="adj" fmla="val 2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71565" y="5185996"/>
            <a:ext cx="304792" cy="25790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133546" y="5086350"/>
            <a:ext cx="8838979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554" b="0">
                <a:solidFill>
                  <a:srgbClr val="374151"/>
                </a:solidFill>
                <a:latin typeface="Roboto"/>
              </a:rPr>
              <a:t>Final configuration selected to avoid overfitting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000999" y="936694"/>
            <a:ext cx="1428714" cy="107936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95249"/>
            <a:ext cx="3933726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F2937"/>
                </a:solidFill>
                <a:latin typeface="Roboto Slab"/>
              </a:rPr>
              <a:t>Conclusion &amp; Benefits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219169" y="2038349"/>
            <a:ext cx="609584" cy="6096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71565" y="2261088"/>
            <a:ext cx="304792" cy="1641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33546" y="2114550"/>
            <a:ext cx="8838979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554" b="0">
                <a:solidFill>
                  <a:srgbClr val="374151"/>
                </a:solidFill>
                <a:latin typeface="Roboto"/>
              </a:rPr>
              <a:t>Improved irrigation prediction accuracy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19169" y="3028950"/>
            <a:ext cx="609584" cy="6096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1565" y="3204796"/>
            <a:ext cx="304792" cy="25790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133546" y="3105149"/>
            <a:ext cx="8838979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554" b="0">
                <a:solidFill>
                  <a:srgbClr val="374151"/>
                </a:solidFill>
                <a:latin typeface="Roboto"/>
              </a:rPr>
              <a:t>Reduced water wastage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19169" y="4019549"/>
            <a:ext cx="609584" cy="6096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71565" y="4215911"/>
            <a:ext cx="304792" cy="2168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133546" y="4095749"/>
            <a:ext cx="8838979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554" b="0">
                <a:solidFill>
                  <a:srgbClr val="374151"/>
                </a:solidFill>
                <a:latin typeface="Roboto"/>
              </a:rPr>
              <a:t>Supports sustainable agriculture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19169" y="5010149"/>
            <a:ext cx="609584" cy="609600"/>
          </a:xfrm>
          <a:prstGeom prst="roundRect">
            <a:avLst>
              <a:gd name="adj" fmla="val 2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71565" y="5197719"/>
            <a:ext cx="304792" cy="23446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133546" y="5086350"/>
            <a:ext cx="8838979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554" b="0">
                <a:solidFill>
                  <a:srgbClr val="374151"/>
                </a:solidFill>
                <a:latin typeface="Roboto"/>
              </a:rPr>
              <a:t>Demonstrates effectiveness of machine learning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000999" y="936694"/>
            <a:ext cx="1428714" cy="107936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95249"/>
            <a:ext cx="4971925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F2937"/>
                </a:solidFill>
                <a:latin typeface="Roboto Slab"/>
              </a:rPr>
              <a:t>Model Deployment &amp; Usage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219169" y="2038349"/>
            <a:ext cx="609584" cy="6096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71565" y="2225919"/>
            <a:ext cx="304792" cy="23446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33546" y="2114550"/>
            <a:ext cx="8838979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554" b="0">
                <a:solidFill>
                  <a:srgbClr val="374151"/>
                </a:solidFill>
                <a:latin typeface="Roboto"/>
              </a:rPr>
              <a:t>Model trained and saved after training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19169" y="3028950"/>
            <a:ext cx="609584" cy="6096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1565" y="3225311"/>
            <a:ext cx="304792" cy="21687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133546" y="3105149"/>
            <a:ext cx="8838979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554" b="0">
                <a:solidFill>
                  <a:srgbClr val="374151"/>
                </a:solidFill>
                <a:latin typeface="Roboto"/>
              </a:rPr>
              <a:t>Separate inference pipeline used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19169" y="4019549"/>
            <a:ext cx="609584" cy="6096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71565" y="4207119"/>
            <a:ext cx="304792" cy="23446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133546" y="4095749"/>
            <a:ext cx="8838979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554" b="0">
                <a:solidFill>
                  <a:srgbClr val="374151"/>
                </a:solidFill>
                <a:latin typeface="Roboto"/>
              </a:rPr>
              <a:t>User provides environmental input values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19169" y="5010149"/>
            <a:ext cx="609584" cy="609600"/>
          </a:xfrm>
          <a:prstGeom prst="roundRect">
            <a:avLst>
              <a:gd name="adj" fmla="val 2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71565" y="5197719"/>
            <a:ext cx="304792" cy="23446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133546" y="5086350"/>
            <a:ext cx="8838979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554" b="0">
                <a:solidFill>
                  <a:srgbClr val="374151"/>
                </a:solidFill>
                <a:latin typeface="Roboto"/>
              </a:rPr>
              <a:t>System outputs irrigation requirement prediction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000999" y="980367"/>
            <a:ext cx="1428714" cy="99201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215</Words>
  <Application>Microsoft Office PowerPoint</Application>
  <PresentationFormat>Widescreen</PresentationFormat>
  <Paragraphs>58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Roboto</vt:lpstr>
      <vt:lpstr>Roboto Slab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Muhammad Ali Ali</cp:lastModifiedBy>
  <cp:revision>2</cp:revision>
  <dcterms:created xsi:type="dcterms:W3CDTF">2013-01-27T09:14:16Z</dcterms:created>
  <dcterms:modified xsi:type="dcterms:W3CDTF">2026-01-29T19:35:03Z</dcterms:modified>
  <cp:category/>
</cp:coreProperties>
</file>